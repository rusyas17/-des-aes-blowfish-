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BF2FA"/>
                </a:solidFill>
                <a:latin typeface="Aptos"/>
              </a:rPr>
              <a:t>СИММЕТРИЯЛЫҚ ШИФРЛАУ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37D2FF"/>
                </a:solidFill>
                <a:latin typeface="Aptos"/>
              </a:rPr>
              <a:t>DES  •  AES  •  Blowfish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BAABE"/>
                </a:solidFill>
                <a:latin typeface="Aptos"/>
              </a:rPr>
              <a:t>Алгоритмдердің жұмыс принципі, нақты код құрылымы және блок-схемалар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27432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DES • C++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3977639"/>
            <a:ext cx="27432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AES •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977639"/>
            <a:ext cx="27432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Blowfish • 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2FA"/>
                </a:solidFill>
                <a:latin typeface="Aptos"/>
              </a:rPr>
              <a:t>Орындаған: Байжума Рустем  |  ИС-24-08K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01  •  КИБЕРҚАУІПСІЗДІК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Шифрлау дегеніміз не?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Ақпаратты кілт арқылы оқылмайтын түрге айналдыру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9456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Қарапайым мәтін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2286000"/>
            <a:ext cx="91440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77639" y="1920240"/>
            <a:ext cx="219456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ШИФРЛАУ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17920" y="2286000"/>
            <a:ext cx="91440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223760" y="1920240"/>
            <a:ext cx="237744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Шифрмәтін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58200" y="2743200"/>
            <a:ext cx="0" cy="91440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23760" y="3703320"/>
            <a:ext cx="237744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ДЕШИФРЛАУ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217920" y="4069080"/>
            <a:ext cx="91440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77639" y="3703320"/>
            <a:ext cx="219456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Бастапқы мәтін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9784080" cy="105156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65192"/>
            <a:ext cx="9418319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Мақсат: құпиялылық және рұқсатсыз оқудан қорғау.</a:t>
            </a:r>
          </a:p>
          <a:p>
            <a:pPr>
              <a:spcAft>
                <a:spcPts val="900"/>
              </a:spcAft>
              <a:defRPr sz="1400">
                <a:solidFill>
                  <a:srgbClr val="EBF2FA"/>
                </a:solidFill>
                <a:latin typeface="Aptos"/>
              </a:defRPr>
            </a:pPr>
            <a:r>
              <a:t>• Кілт — шифрлау процесін басқаратын құпия мән.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02  •  КИБЕРҚАУІПСІЗДІК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Симметриялық шифрлау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Шифрлау мен дешифрлау үшін бір құпия кілт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19456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МӘТІН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28600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ШИФРЛАУ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880360"/>
            <a:ext cx="228600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ДЕШИФРЛАУ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256032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ШИФРМӘТІН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880360" y="1673352"/>
            <a:ext cx="429768" cy="50292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50992" y="1673352"/>
            <a:ext cx="905256" cy="50292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650992" y="2176272"/>
            <a:ext cx="905256" cy="10515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743200" y="2514600"/>
            <a:ext cx="566928" cy="713232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40480" y="4572000"/>
            <a:ext cx="32004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БІР ҚҰПИЯ КІЛТ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5440680" y="3657600"/>
            <a:ext cx="0" cy="91440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4023360"/>
            <a:ext cx="3200400" cy="137160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187952"/>
            <a:ext cx="2834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Артықшылығы: жылдам.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Кемшілігі: кілтті қауіпсіз жеткізу қажет.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03  •  КИБЕРҚАУІПСІЗДІК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DES, AES және Blowfish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Үш алгоритмнің базалық параметрлері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92024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Алгоритм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417320"/>
            <a:ext cx="146304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Блок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41732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Кілт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13716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Раунд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417320"/>
            <a:ext cx="219456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Құрылым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1920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2103120"/>
            <a:ext cx="14630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64 бит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103120"/>
            <a:ext cx="201168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56 бит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03120"/>
            <a:ext cx="137160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103120"/>
            <a:ext cx="219456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Feistel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16352"/>
            <a:ext cx="1920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AES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6039" y="2816352"/>
            <a:ext cx="14630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128 бит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816352"/>
            <a:ext cx="201168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128/192/256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16352"/>
            <a:ext cx="137160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10/12/14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2816352"/>
            <a:ext cx="219456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SPN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9584"/>
            <a:ext cx="1920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Blowfish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39" y="3529584"/>
            <a:ext cx="14630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64 бит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529584"/>
            <a:ext cx="201168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32–448 бит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529584"/>
            <a:ext cx="137160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3529584"/>
            <a:ext cx="219456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Feistel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63440"/>
            <a:ext cx="10607040" cy="105156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28031"/>
            <a:ext cx="1024128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DES — тарихи алгоритм, 56 биттік тиімді кілт.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AES — 128 биттік блок және 10/12/14 раунд.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Blowfish — 64 биттік блок, 16 раунд, S-box және динамикалық кілт дайындау.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04  •  КИБЕРҚАУІПСІЗДІК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DES: толық алгоритм схемасы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Менің C++ реализациямның логикасымен байланыстырылған схема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8288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64 биттік блок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1810512"/>
            <a:ext cx="4114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17520" y="150876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Initial
Permutation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74920" y="1810512"/>
            <a:ext cx="4114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0" y="1143000"/>
            <a:ext cx="16459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L0
32 бит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423160"/>
            <a:ext cx="16459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R0
32 бит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645920"/>
            <a:ext cx="201168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16 Feistel
раунд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1810512"/>
            <a:ext cx="502920" cy="201168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011680"/>
            <a:ext cx="502920" cy="713232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2011680"/>
            <a:ext cx="5029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424160" y="1508760"/>
            <a:ext cx="11430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R16|L16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246120"/>
            <a:ext cx="21031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Inverse Permutation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9281160" y="2148840"/>
            <a:ext cx="1645920" cy="100584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66344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2FA"/>
                </a:solidFill>
                <a:latin typeface="Aptos"/>
              </a:rPr>
              <a:t>Кодтағы байланыс: initial_permutation() → generate_left/right_partition() → function_f() × 16 → R16|L16 → inverse_initial_permutation()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05  •  КИБЕРҚАУІПСІЗДІК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DES: бір Feistel раунды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Нақты формула + F функциясының ішкі схемасы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3258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Lᵢ₋₁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13258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Rᵢ₋₁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743200"/>
            <a:ext cx="18288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Expansion
32 → 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2743200"/>
            <a:ext cx="16459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XOR Kᵢ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2743200"/>
            <a:ext cx="150876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8 S-box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743200"/>
            <a:ext cx="15544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P-box
48 →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44200" y="2743200"/>
            <a:ext cx="9144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3035808"/>
            <a:ext cx="7772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" y="3035808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3035808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3035808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424160" y="3035808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20240" y="3035808"/>
            <a:ext cx="594360" cy="1216152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0" y="3977639"/>
            <a:ext cx="18288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Lᵢ₋₁ XOR 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17720" y="4279392"/>
            <a:ext cx="8686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23560" y="3977639"/>
            <a:ext cx="16459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Rᵢ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143000"/>
            <a:ext cx="2103120" cy="5029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Lᵢ = Rᵢ₋₁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1430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Rᵢ = Lᵢ₋₁ XOR F(Rᵢ₋₁, Kᵢ)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06  •  КИБЕРҚАУІПСІЗДІК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DES: менің C++ кодым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Функциялардың нақты атаулары және олардың рөлі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257800" cy="448056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44168"/>
            <a:ext cx="4965192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uint8_t *generate_left_partition(...)
uint8_t *generate_right_partition(...)
uint8_t *expand_partition_32_48(...)
uint8_t *function_f(...)
uint8_t *encrypt(...)
uint8_t *decrypt(...)
encrypt():
initial_permutation(plain_text)
generate_left_partition(...)
generate_right_partition(...)
for (int i = 0; i &lt; 16; i++) {
    L_i = R_prev;
    f_value = function_f(R_prev, final_keys[i]);
    R_i = L_prev ^ f_value;
}
R16 || L16
inverse_initial_permutation(...)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303520" cy="192024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99032"/>
            <a:ext cx="493775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generate_left_partition() — бастапқы 32 битті алады.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generate_right_partition() — келесі 32 битті алады.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expand_partition_32_48() — R бөлігін 32→48 битке кеңейтеді.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function_f() — DES раундының негізгі түрлендіруі.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703320"/>
            <a:ext cx="448056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encrypt() → 16 раунд → inverse_initial_permutation()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617720"/>
            <a:ext cx="448056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decrypt() → раундтық кілттер кері ретпен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07  •  КИБЕРҚАУІПСІЗДІК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DES: function_f() қалай жұмыс істейді?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Кодтағы нақты операцияларды бір схемаға жинақтау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4173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R
32 бит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57400" y="1645920"/>
            <a:ext cx="36576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14600" y="1325880"/>
            <a:ext cx="19202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expand_partition
32→48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1645920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92040" y="1325880"/>
            <a:ext cx="150876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XOR
round key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1645920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0" y="1325880"/>
            <a:ext cx="150876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8 × 6 бит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1645920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1325880"/>
            <a:ext cx="14173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S-box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87000" y="1645920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52760" y="1325880"/>
            <a:ext cx="9144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Код логикасы: expansion → XOR → 8 бөлік → compress_sbox → 32 бит → permute_pbox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74720"/>
            <a:ext cx="10607040" cy="196596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584448"/>
            <a:ext cx="10314432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uint8_t *function_f(uint8_t *partition, uint8_t *key) {
    uint8_t *expanded = expand_partition_32_48(partition);
    // expanded XOR 48-bit round key
    // 8 × 6-bit blocks → compress_sbox()
    // 32-bit result → permute_pbox()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08  •  КИБЕРҚАУІПСІЗДІК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AES: негізгі құрылым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AES-128 оқу кодындағы 16 байт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73736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16 байт
plaintext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645920"/>
            <a:ext cx="4114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325880"/>
            <a:ext cx="16459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AddRoundKey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1645920"/>
            <a:ext cx="36576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1325880"/>
            <a:ext cx="14630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SubBytes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20840" y="1645920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86600" y="1325880"/>
            <a:ext cx="15544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ShiftRows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1645920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98280" y="1325880"/>
            <a:ext cx="15544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MixColumns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44200" y="1645920"/>
            <a:ext cx="27432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1018520" y="1325880"/>
            <a:ext cx="9144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XOR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9 толық раунд: SubBytes → ShiftRows → MixColums → AddRoundKey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657600"/>
            <a:ext cx="18288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SubBytes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63440" y="3977639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3657600"/>
            <a:ext cx="18288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ShiftRows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95160" y="3977639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3657600"/>
            <a:ext cx="18288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AddRoundKey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0" y="3977639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738360" y="3657600"/>
            <a:ext cx="15544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Ciphertext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AABE"/>
                </a:solidFill>
                <a:latin typeface="Aptos"/>
              </a:rPr>
              <a:t>Соңғы раундта MixColumns жоқ. Кодта: shifr(a) ішінде for(x=0;x&lt;9;x++) толық раунд, кейін финалдық 3 операция.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09  •  КИБЕРҚАУІПСІЗДІК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AES: State матрицасы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strokaVbytes() мәтінді 4×4 байттық құрылымға бөледі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37160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37160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214884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4884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14884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83080" y="292608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92608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92608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34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41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70332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42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70332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43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3703320"/>
            <a:ext cx="777240" cy="56692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BF2FA"/>
                </a:solidFill>
                <a:latin typeface="Aptos"/>
              </a:rPr>
              <a:t>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00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BF2FA"/>
                </a:solidFill>
                <a:latin typeface="Aptos"/>
              </a:rPr>
              <a:t>4 × 4 = 16 байт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325880"/>
            <a:ext cx="5669280" cy="228600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4" y="1435607"/>
            <a:ext cx="5376672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def strokaVbytes(stroka):
    itog = [[],[],[],[]]
    i = 1
    while i &lt; 17:
        b = hex(ord(stroka[i-1]))
        ...
        itog[i % 4].append(b)
        i += 1
    return itog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886200"/>
            <a:ext cx="5669280" cy="146304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050791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SubBytes — S-box ауыстыру.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ShiftRows — жолдарды 0/1/2/3 орынға жылжыту.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MixColums — бағандарды араластыру.</a:t>
            </a:r>
          </a:p>
          <a:p>
            <a:pPr>
              <a:spcAft>
                <a:spcPts val="900"/>
              </a:spcAft>
              <a:defRPr sz="1200">
                <a:solidFill>
                  <a:srgbClr val="EBF2FA"/>
                </a:solidFill>
                <a:latin typeface="Aptos"/>
              </a:defRPr>
            </a:pPr>
            <a:r>
              <a:t>• AddRoundKey — XOR.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10  •  КИБЕРҚАУІПСІЗДІК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AES: shifr(a) — нақты код логикасы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Пайдаланушы берген Python кодындағы негізгі функция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400800" cy="448056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44168"/>
            <a:ext cx="6108192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def shifr(a):
    b = strokaVbytes(a)
    b = AddRoundKey(b)
    for x in range(9):
        b = SubBytes(b)
        b = ShiftRows(b)
        b = MixColums(b)
        b = AddRoundKey(b)
    b = SubBytes(b)
    b = ShiftRows(b)
    b = AddRoundKey(b)
    itog = ''
    for i in range(4):
        for j in range(4):
            itog += chr(int(b[j][i],16))
    return itog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325880"/>
            <a:ext cx="34747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strokaVbytes(a)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0" y="1965960"/>
            <a:ext cx="0" cy="45720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2514600"/>
            <a:ext cx="34747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AddRoundKey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3154680"/>
            <a:ext cx="0" cy="3657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3611880"/>
            <a:ext cx="34747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9 × толық раунд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0" y="4251960"/>
            <a:ext cx="0" cy="32004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4663440"/>
            <a:ext cx="347472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Final: SubBytes → ShiftRows → AddRoundKey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532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BF2FA"/>
                </a:solidFill>
                <a:latin typeface="Aptos"/>
              </a:rPr>
              <a:t>Дешифрлау: rasshifr(a)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11  •  КИБЕРҚАУІПСІЗДІК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AES: төрт негізгі операция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Әр операцияның state-ке әсері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1920240" cy="65836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SubBytes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97480" y="1609343"/>
            <a:ext cx="457200" cy="0"/>
          </a:xfrm>
          <a:prstGeom prst="line">
            <a:avLst/>
          </a:prstGeom>
          <a:ln w="25400">
            <a:solidFill>
              <a:srgbClr val="A5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46120" y="1280160"/>
            <a:ext cx="7132320" cy="658368"/>
          </a:xfrm>
          <a:prstGeom prst="roundRect">
            <a:avLst/>
          </a:prstGeom>
          <a:solidFill>
            <a:srgbClr val="151F2E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8988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Әр байт S-box арқылы ауысады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39"/>
            <a:ext cx="1920240" cy="65836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ShiftRows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706623"/>
            <a:ext cx="457200" cy="0"/>
          </a:xfrm>
          <a:prstGeom prst="line">
            <a:avLst/>
          </a:prstGeom>
          <a:ln w="25400">
            <a:solidFill>
              <a:srgbClr val="FFA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2377439"/>
            <a:ext cx="7132320" cy="658368"/>
          </a:xfrm>
          <a:prstGeom prst="roundRect">
            <a:avLst/>
          </a:prstGeom>
          <a:solidFill>
            <a:srgbClr val="151F2E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4871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Жолдар циклдік жылжиды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1920240" cy="65836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MixColumns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3803904"/>
            <a:ext cx="457200" cy="0"/>
          </a:xfrm>
          <a:prstGeom prst="line">
            <a:avLst/>
          </a:prstGeom>
          <a:ln w="25400">
            <a:solidFill>
              <a:srgbClr val="FF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3474720"/>
            <a:ext cx="7132320" cy="658368"/>
          </a:xfrm>
          <a:prstGeom prst="roundRect">
            <a:avLst/>
          </a:prstGeom>
          <a:solidFill>
            <a:srgbClr val="151F2E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5844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Әр баған араластырылады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920240" cy="658368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AddRoundKey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4901184"/>
            <a:ext cx="457200" cy="0"/>
          </a:xfrm>
          <a:prstGeom prst="line">
            <a:avLst/>
          </a:prstGeom>
          <a:ln w="25400">
            <a:solidFill>
              <a:srgbClr val="50EB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4572000"/>
            <a:ext cx="7132320" cy="658368"/>
          </a:xfrm>
          <a:prstGeom prst="roundRect">
            <a:avLst/>
          </a:prstGeom>
          <a:solidFill>
            <a:srgbClr val="151F2E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6817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State XOR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1143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AABE"/>
                </a:solidFill>
                <a:latin typeface="Aptos"/>
              </a:rPr>
              <a:t>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61320" y="1645920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53928" y="1645920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46536" y="1645920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9144" y="1645920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61320" y="2121408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53928" y="2121408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46536" y="2121408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9144" y="2121408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61320" y="2596896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53928" y="2596896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46536" y="2596896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9144" y="2596896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61320" y="3072384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53928" y="3072384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46536" y="3072384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9144" y="3072384"/>
            <a:ext cx="228600" cy="347472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EBF2FA"/>
                </a:solidFill>
                <a:latin typeface="Aptos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12  •  КИБЕРҚАУІПСІЗДІК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AES: Streamlit интерфейсі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Екінші Python коды — қолданушыға арналған қарапайым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760720" cy="438912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44168"/>
            <a:ext cx="5468112" cy="41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st.title("AES 128-bit Encryption Tool")
method = st.radio(
    'Pick Method',
    ['Encryption', 'Decryption']
)
def string_to_hex(text):
    return text.encode('utf-8').hex().zfill(32)
# Encryption:
AES2.encrypt(hex_plaintext, key_hex)
# Decryption:
AES2.decrypt(ciphertext, key_hex)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325880"/>
            <a:ext cx="18288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Plaintext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325880"/>
            <a:ext cx="15544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Key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26679" y="2057400"/>
            <a:ext cx="1005841" cy="45720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372600" y="2057400"/>
            <a:ext cx="548640" cy="45720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2606040"/>
            <a:ext cx="27432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AES2.encrypt()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3291840"/>
            <a:ext cx="0" cy="3657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3749039"/>
            <a:ext cx="27432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Ciphertext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89204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BF2FA"/>
                </a:solidFill>
                <a:latin typeface="Aptos"/>
              </a:rPr>
              <a:t>Decryption кезінде: ciphertext + key → AES2.decrypt() → plaintext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13  •  КИБЕРҚАУІПСІЗДІК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Blowfish: алгоритмнің толық схемасы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64 биттік блок + 16 Feistel раунды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6002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64 биттік блок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1645920"/>
            <a:ext cx="4114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325880"/>
            <a:ext cx="137160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L | 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1645920"/>
            <a:ext cx="36576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914400"/>
            <a:ext cx="4937760" cy="123444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16 раунд
L ⊕ P[i] → F(L) → R ⊕ F(L) → swap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46920" y="1645920"/>
            <a:ext cx="41148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149840" y="1325880"/>
            <a:ext cx="13258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64 бит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BF2FA"/>
                </a:solidFill>
                <a:latin typeface="Aptos"/>
              </a:rPr>
              <a:t>F функциясы: 32 битті 4 байтқа бөледі → 4 S-box → + → XOR → 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88620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byte 1 → S1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388620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+ S2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388620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XOR 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799" y="3886200"/>
            <a:ext cx="201168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+ 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14  •  КИБЕРҚАУІПСІЗДІК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Blowfish: fastly() — нақты 16 раунд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Пайдаланушы берген C++ кодтағы негізгі цикл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6583680" cy="448056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6291072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>
                <a:solidFill>
                  <a:srgbClr val="BEE1F0"/>
                </a:solidFill>
                <a:latin typeface="Cascadia Mono"/>
              </a:rPr>
              <a:t>uint64_t fastly(uint64_t number)
{
    uint32_t left_number, right_number;
    right_number = number;
    left_number = (number &gt;&gt; 32);
    for (int i = 0; i &lt; 16; i++)
    {
        left_number ^= dynamic_keys[i];
        right_number = foo(left_number) ^ right_number;
        swap(&amp;left_number, &amp;right_number);
    }
    swap(&amp;left_number, &amp;right_number);
    right_number ^= dynamic_keys[16];
    left_number ^= dynamic_keys[17];
    return ((uint64_t)left_number &lt;&lt; 32) | right_number;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34747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64 бит → L/R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89720" y="1920240"/>
            <a:ext cx="0" cy="41148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52360" y="2423160"/>
            <a:ext cx="34747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i = 0 … 15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89720" y="3108960"/>
            <a:ext cx="0" cy="41148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52360" y="3611880"/>
            <a:ext cx="34747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XOR → foo() → XOR → swap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89720" y="4297680"/>
            <a:ext cx="0" cy="41148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4800600"/>
            <a:ext cx="347472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P[16], P[17] → нәтиже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15  •  КИБЕРҚАУІПСІЗДІК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Blowfish: creating_dynamic_keys()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Кодтағы dynamic_keys және S-box қайта есептелуі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0116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static_keys[18]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01168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static_s[4][256]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783080"/>
            <a:ext cx="219456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Пайдаланушы key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554480"/>
            <a:ext cx="365760" cy="3657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697480" y="2148840"/>
            <a:ext cx="365760" cy="50292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760720" y="1783080"/>
            <a:ext cx="173736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XOR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2148840"/>
            <a:ext cx="32004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1234440"/>
            <a:ext cx="28346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dynamic_keys[18]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498079" y="1600200"/>
            <a:ext cx="274321" cy="54864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2423160"/>
            <a:ext cx="28346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fastly(0) / fastly(c)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0" y="3108960"/>
            <a:ext cx="0" cy="54864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818120" y="3749039"/>
            <a:ext cx="28346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S-box мәндерін жаңарту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60520"/>
            <a:ext cx="6217920" cy="141732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270248"/>
            <a:ext cx="592531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EE1F0"/>
                </a:solidFill>
                <a:latin typeface="Cascadia Mono"/>
              </a:rPr>
              <a:t>for (int kol = 0; kol &lt;= 17; kol++)
    dynamic_keys[kol] = static_keys[kol] ^ key8;
uint64_t plpr = fastly(0);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8006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Кодта key8 uint32_t ретінде енгізіледі: scanf("%x", &amp;key8)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16  •  КИБЕРҚАУІПСІЗДІК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Blowfish: foo() және дешифрлау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S-box операциясы және кілттердің кері реті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486400" cy="301752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344168"/>
            <a:ext cx="5193792" cy="279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E1F0"/>
                </a:solidFill>
                <a:latin typeface="Cascadia Mono"/>
              </a:rPr>
              <a:t>uint32_t foo(uint32_t number_32)
{
    uint8_t p1, p2, p3, p4;
    p1 = (number_32 &gt;&gt; 24);
    p2 = (number_32 &gt;&gt; 16);
    p3 = (number_32 &gt;&gt; 8);
    p4 = number_32;
    number_32 = s[0][p1];
    number_32 += s[1][p2];
    number_32 ^= s[2][p3];
    number_32 += s[3][p4];
    return number_32;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280160"/>
            <a:ext cx="146304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S1[p1]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01000" y="1572768"/>
            <a:ext cx="36576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1280160"/>
            <a:ext cx="146304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BF2FA"/>
                </a:solidFill>
                <a:latin typeface="Aptos"/>
              </a:rPr>
              <a:t>+ S2[p2]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0" y="1572768"/>
            <a:ext cx="36576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332720" y="1280160"/>
            <a:ext cx="1143000" cy="59436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BF2FA"/>
                </a:solidFill>
                <a:latin typeface="Aptos"/>
              </a:rPr>
              <a:t>XOR S3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81360" y="1965960"/>
            <a:ext cx="0" cy="50292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2560320"/>
            <a:ext cx="2834640" cy="64008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FFA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+ S4[p4] → 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657600"/>
            <a:ext cx="5394960" cy="1828800"/>
          </a:xfrm>
          <a:prstGeom prst="roundRect">
            <a:avLst/>
          </a:prstGeom>
          <a:solidFill>
            <a:srgbClr val="0A1019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767328"/>
            <a:ext cx="51023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E1F0"/>
                </a:solidFill>
                <a:latin typeface="Cascadia Mono"/>
              </a:rPr>
              <a:t>for(int i = 0; i &lt;= 17; i++)
    tmp[i] = dynamic_keys[i];
for(int i = 0; i &lt;= 17; i++)
    dynamic_keys[i] = tmp[17 - i];
block_64 = fastly(block_64);
printf("decryption block: %lx\n", block_64);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Шифрлау: fastly(block)
Дешифрлау: dynamic_keys кері ретпен → fastly()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17  •  КИБЕРҚАУІПСІЗДІК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Үш алгоритмді құрылымы бойынша салыстыру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Тек негізгі техникалық айырмашылықтар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10896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BF2FA"/>
                </a:solidFill>
                <a:latin typeface="Aptos"/>
              </a:rPr>
              <a:t>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108960" cy="288036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64-бит блок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56-бит тиімді кілт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16 Feistel раунды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S-box + P-box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10896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BF2FA"/>
                </a:solidFill>
                <a:latin typeface="Aptos"/>
              </a:rPr>
              <a:t>AES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48840"/>
            <a:ext cx="3108960" cy="288036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13432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128-бит блок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128/192/256-бит кілт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10/12/14 раунд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SubBytes + ShiftRows + MixColumns + XOR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10896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BF2FA"/>
                </a:solidFill>
                <a:latin typeface="Aptos"/>
              </a:rPr>
              <a:t>Blowfish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148840"/>
            <a:ext cx="3108960" cy="288036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2313432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64-бит блок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өзгермелі кілт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16 Feistel раунды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4×256 S-box + P-array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BF2FA"/>
                </a:solidFill>
                <a:latin typeface="Aptos"/>
              </a:rPr>
              <a:t>Код тұрғысынан: DES → function_f | AES → shifr | Blowfish → fastly + foo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18  •  КИБЕРҚАУІПСІЗДІК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Шынайы өмірдегі мысал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Алгоритмді таңдау емес, қолданылу контекстін түсіну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20040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Файлды қорғау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Желі арқылы дерек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25880"/>
            <a:ext cx="3200400" cy="6858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2FA"/>
                </a:solidFill>
                <a:latin typeface="Aptos"/>
              </a:rPr>
              <a:t>Ескі жүйе / legacy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148840"/>
            <a:ext cx="0" cy="5943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148840"/>
            <a:ext cx="0" cy="5943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29800" y="2148840"/>
            <a:ext cx="0" cy="59436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880360"/>
            <a:ext cx="2834640" cy="9144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AES
заманауи жүйелерде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880360"/>
            <a:ext cx="2834640" cy="9144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BF2FA"/>
                </a:solidFill>
                <a:latin typeface="Aptos"/>
              </a:rPr>
              <a:t>AES
қолданбаларда/желіде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880360"/>
            <a:ext cx="2834640" cy="91440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BF2FA"/>
                </a:solidFill>
                <a:latin typeface="Aptos"/>
              </a:rPr>
              <a:t>DES/Blowfish
тарихи/legacy контекст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332720" cy="109728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0799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DES қазіргі қауіпсіз жүйелер үшін ескірген алгоритм ретінде қарастырылады.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AES — осы үш алгоритмнің ішінде қазіргі стандарт ретінде қолданылатын алгоритм.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Blowfish — ескі/арнайы бағдарламалық жүйелерде кездесуі мүмкін.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19  •  КИБЕРҚАУІПСІЗДІК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7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BF2FA"/>
                </a:solidFill>
                <a:latin typeface="Aptos"/>
              </a:rPr>
              <a:t>Қорытынды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ABE"/>
                </a:solidFill>
                <a:latin typeface="Aptos"/>
              </a:rPr>
              <a:t>Теория + нақты код + схема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01752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37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DES
Feistel • 16 раунд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01752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50E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AES
SPN • 10/12/14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25880"/>
            <a:ext cx="3017520" cy="731520"/>
          </a:xfrm>
          <a:prstGeom prst="roundRect">
            <a:avLst/>
          </a:prstGeom>
          <a:solidFill>
            <a:srgbClr val="151F2E"/>
          </a:solidFill>
          <a:ln w="20320">
            <a:solidFill>
              <a:srgbClr val="A5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EBF2FA"/>
                </a:solidFill>
                <a:latin typeface="Aptos"/>
              </a:rPr>
              <a:t>Blowfish
Feistel • 16 раунд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49039" y="1691640"/>
            <a:ext cx="685801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1691640"/>
            <a:ext cx="685800" cy="0"/>
          </a:xfrm>
          <a:prstGeom prst="line">
            <a:avLst/>
          </a:prstGeom>
          <a:ln w="25400">
            <a:solidFill>
              <a:srgbClr val="37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7889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BF2FA"/>
                </a:solidFill>
                <a:latin typeface="Aptos"/>
              </a:rPr>
              <a:t>Негізгі нәтиже: алгоритмді тек атауымен емес, оның раундтық құрылымын және бағдарламалық реализациясын түсіну.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10515600" cy="1234440"/>
          </a:xfrm>
          <a:prstGeom prst="roundRect">
            <a:avLst/>
          </a:prstGeom>
          <a:solidFill>
            <a:srgbClr val="101824"/>
          </a:solidFill>
          <a:ln>
            <a:solidFill>
              <a:srgbClr val="233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913631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DES кодында encrypt()/decrypt()/function_f() байланысы көрсетілді.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AES кодында shifr(), SubBytes(), ShiftRows(), MixColums(), AddRoundKey() нақты көрсетілді.</a:t>
            </a:r>
          </a:p>
          <a:p>
            <a:pPr>
              <a:spcAft>
                <a:spcPts val="900"/>
              </a:spcAft>
              <a:defRPr sz="1300">
                <a:solidFill>
                  <a:srgbClr val="EBF2FA"/>
                </a:solidFill>
                <a:latin typeface="Aptos"/>
              </a:defRPr>
            </a:pPr>
            <a:r>
              <a:t>• Blowfish кодында creating_dynamic_keys(), fastly(), foo() және кілттердің кері реті көрсетілді.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7D2FF"/>
                </a:solidFill>
                <a:latin typeface="Aptos"/>
              </a:rPr>
              <a:t>Назарларыңызға рақмет!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AABE"/>
                </a:solidFill>
                <a:latin typeface="Aptos"/>
              </a:rPr>
              <a:t>20  •  КИБЕРҚАУІПСІЗДІК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